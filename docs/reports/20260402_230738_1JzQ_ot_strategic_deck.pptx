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00000"/>
                </a:solidFill>
              </a:defRPr>
            </a:pPr>
            <a:r>
              <a:t>OT 분석 기획안 (1차)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646464"/>
                </a:solidFill>
              </a:defRPr>
            </a:pPr>
            <a:r>
              <a:t>Job ID: 20260402_230738_1JzQ_ot</a:t>
            </a:r>
          </a:p>
          <a:p>
            <a:r>
              <a:t>Strategic Intelligence V26.0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2855"/>
                </a:solidFill>
              </a:defRPr>
            </a:pPr>
            <a:r>
              <a:t>Creative &amp; Visual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600">
                <a:solidFill>
                  <a:srgbClr val="1E1E1E"/>
                </a:solidFill>
              </a:defRPr>
            </a:pPr>
            <a:r>
              <a:t>• Creative &amp; Visual</a:t>
            </a:r>
          </a:p>
          <a:p>
            <a:pPr>
              <a:defRPr sz="1200">
                <a:solidFill>
                  <a:srgbClr val="50505A"/>
                </a:solidFill>
              </a:defRPr>
            </a:pPr>
            <a:r>
              <a:t>  - 핵심 인플루언서 연계 숏폼 비주얼 기획안 도출.</a:t>
            </a:r>
          </a:p>
          <a:p>
            <a:pPr>
              <a:defRPr sz="1200"/>
            </a:pPr>
            <a:r>
              <a:t>    ---</a:t>
            </a:r>
          </a:p>
          <a:p>
            <a:pPr>
              <a:defRPr sz="1200"/>
            </a:pPr>
            <a:r>
              <a:t>    © 2026 Antigravity | 1차 브리핑 데이터 추출 완료.</a:t>
            </a:r>
          </a:p>
          <a:p>
            <a:pPr>
              <a:defRPr sz="1200"/>
            </a:pPr>
            <a:r>
              <a:t>    (이 파일을 기반으로 2차 딥-리서치가 PPTX를 생성합니다.)</a:t>
            </a:r>
          </a:p>
          <a:p>
            <a:pPr>
              <a:defRPr b="1" sz="1600">
                <a:solidFill>
                  <a:srgbClr val="1E1E1E"/>
                </a:solidFill>
              </a:defRPr>
            </a:pPr>
            <a:r>
              <a:t>• Creative &amp; Visual</a:t>
            </a:r>
          </a:p>
          <a:p>
            <a:pPr>
              <a:defRPr sz="1200">
                <a:solidFill>
                  <a:srgbClr val="50505A"/>
                </a:solidFill>
              </a:defRPr>
            </a:pPr>
            <a:r>
              <a:t>  - 핵심 인플루언서 연계 숏폼 비주얼 기획안 도출.</a:t>
            </a:r>
          </a:p>
          <a:p>
            <a:pPr>
              <a:defRPr sz="1200"/>
            </a:pPr>
            <a:r>
              <a:t>    ---</a:t>
            </a:r>
          </a:p>
          <a:p>
            <a:pPr>
              <a:defRPr sz="1200"/>
            </a:pPr>
            <a:r>
              <a:t>    © 2026 Antigravity | 1차 브리핑 데이터 추출 완료.</a:t>
            </a:r>
          </a:p>
          <a:p>
            <a:pPr>
              <a:defRPr sz="1200"/>
            </a:pPr>
            <a:r>
              <a:t>    (이 파일을 기반으로 2차 딥-리서치가 PPTX를 생성합니다.)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2855"/>
                </a:solidFill>
              </a:defRPr>
            </a:pPr>
            <a:r>
              <a:t>Market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600">
                <a:solidFill>
                  <a:srgbClr val="1E1E1E"/>
                </a:solidFill>
              </a:defRPr>
            </a:pPr>
            <a:r>
              <a:t>• 1. 프로젝트 메타 인텔리전스</a:t>
            </a:r>
          </a:p>
          <a:p>
            <a:pPr>
              <a:defRPr sz="1200">
                <a:solidFill>
                  <a:srgbClr val="50505A"/>
                </a:solidFill>
              </a:defRPr>
            </a:pPr>
            <a:r>
              <a:t>  - **수집 ID**: `20260402_230738_1JzQ_ot`</a:t>
            </a:r>
          </a:p>
          <a:p>
            <a:pPr>
              <a:defRPr sz="1200">
                <a:solidFill>
                  <a:srgbClr val="50505A"/>
                </a:solidFill>
              </a:defRPr>
            </a:pPr>
            <a:r>
              <a:t>  - **분석 코어**: Antigravity V25.0 (Consultant Model)</a:t>
            </a:r>
          </a:p>
          <a:p>
            <a:pPr>
              <a:defRPr sz="1200">
                <a:solidFill>
                  <a:srgbClr val="50505A"/>
                </a:solidFill>
              </a:defRPr>
            </a:pPr>
            <a:r>
              <a:t>  - **키 필터링**: INTERNAL, Experience, Principles, INTERNAL, Experience</a:t>
            </a:r>
          </a:p>
          <a:p>
            <a:pPr>
              <a:defRPr b="1" sz="1600">
                <a:solidFill>
                  <a:srgbClr val="1E1E1E"/>
                </a:solidFill>
              </a:defRPr>
            </a:pPr>
            <a:r>
              <a:t>• Market Intelligence</a:t>
            </a:r>
          </a:p>
          <a:p>
            <a:pPr>
              <a:defRPr sz="1200">
                <a:solidFill>
                  <a:srgbClr val="50505A"/>
                </a:solidFill>
              </a:defRPr>
            </a:pPr>
            <a:r>
              <a:t>  - 시장 트렌드 변화 및 프리미엄 타겟 니즈 분석.</a:t>
            </a:r>
          </a:p>
          <a:p>
            <a:pPr>
              <a:defRPr b="1" sz="1600">
                <a:solidFill>
                  <a:srgbClr val="1E1E1E"/>
                </a:solidFill>
              </a:defRPr>
            </a:pPr>
            <a:r>
              <a:t>• Strategic Logic</a:t>
            </a:r>
          </a:p>
          <a:p>
            <a:pPr>
              <a:defRPr sz="1200">
                <a:solidFill>
                  <a:srgbClr val="50505A"/>
                </a:solidFill>
              </a:defRPr>
            </a:pPr>
            <a:r>
              <a:t>  - 데이터 기반 타겟팅 최적화 및 신규 어젠다 선점 전략.</a:t>
            </a:r>
          </a:p>
          <a:p>
            <a:pPr>
              <a:defRPr b="1" sz="1600">
                <a:solidFill>
                  <a:srgbClr val="1E1E1E"/>
                </a:solidFill>
              </a:defRPr>
            </a:pPr>
            <a:r>
              <a:t>• 1. 프로젝트 메타 인텔리전스</a:t>
            </a:r>
          </a:p>
          <a:p>
            <a:pPr>
              <a:defRPr sz="1200">
                <a:solidFill>
                  <a:srgbClr val="50505A"/>
                </a:solidFill>
              </a:defRPr>
            </a:pPr>
            <a:r>
              <a:t>  - **수집 ID**: `20260402_230738_1JzQ_ot`</a:t>
            </a:r>
          </a:p>
          <a:p>
            <a:pPr>
              <a:defRPr sz="1200">
                <a:solidFill>
                  <a:srgbClr val="50505A"/>
                </a:solidFill>
              </a:defRPr>
            </a:pPr>
            <a:r>
              <a:t>  - **분석 코어**: Antigravity V25.0 (Consultant Model)</a:t>
            </a:r>
          </a:p>
          <a:p>
            <a:pPr>
              <a:defRPr sz="1200">
                <a:solidFill>
                  <a:srgbClr val="50505A"/>
                </a:solidFill>
              </a:defRPr>
            </a:pPr>
            <a:r>
              <a:t>  - **키 필터링**: INTERNAL, Experience, Principles, INTERNAL, Experience</a:t>
            </a:r>
          </a:p>
          <a:p>
            <a:pPr>
              <a:defRPr b="1" sz="1600">
                <a:solidFill>
                  <a:srgbClr val="1E1E1E"/>
                </a:solidFill>
              </a:defRPr>
            </a:pPr>
            <a:r>
              <a:t>• Market Intelligence</a:t>
            </a:r>
          </a:p>
          <a:p>
            <a:pPr>
              <a:defRPr sz="1200">
                <a:solidFill>
                  <a:srgbClr val="50505A"/>
                </a:solidFill>
              </a:defRPr>
            </a:pPr>
            <a:r>
              <a:t>  - 시장 트렌드 변화 및 프리미엄 타겟 니즈 분석.</a:t>
            </a:r>
          </a:p>
          <a:p>
            <a:pPr>
              <a:defRPr b="1" sz="1600">
                <a:solidFill>
                  <a:srgbClr val="1E1E1E"/>
                </a:solidFill>
              </a:defRPr>
            </a:pPr>
            <a:r>
              <a:t>• Strategic Logic</a:t>
            </a:r>
          </a:p>
          <a:p>
            <a:pPr>
              <a:defRPr sz="1200">
                <a:solidFill>
                  <a:srgbClr val="50505A"/>
                </a:solidFill>
              </a:defRPr>
            </a:pPr>
            <a:r>
              <a:t>  - 데이터 기반 타겟팅 최적화 및 신규 어젠다 선점 전략.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