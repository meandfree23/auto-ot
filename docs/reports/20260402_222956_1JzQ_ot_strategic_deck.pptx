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b="1">
                <a:solidFill>
                  <a:srgbClr val="000000"/>
                </a:solidFill>
              </a:defRPr>
            </a:pPr>
            <a:r>
              <a:t>OT 분석 기획안 (1차)</a:t>
            </a:r>
          </a:p>
        </p:txBody>
      </p:sp>
      <p:sp>
        <p:nvSpPr>
          <p:cNvPr id="3" name="Subtitle 2"/>
          <p:cNvSpPr>
            <a:spLocks noGrp="1"/>
          </p:cNvSpPr>
          <p:nvPr>
            <p:ph type="subTitle" idx="1"/>
          </p:nvPr>
        </p:nvSpPr>
        <p:spPr/>
        <p:txBody>
          <a:bodyPr/>
          <a:lstStyle/>
          <a:p>
            <a:pPr>
              <a:defRPr>
                <a:solidFill>
                  <a:srgbClr val="646464"/>
                </a:solidFill>
              </a:defRPr>
            </a:pPr>
            <a:r>
              <a:t>Job ID: 20260402_222956_1JzQ_ot</a:t>
            </a:r>
          </a:p>
          <a:p>
            <a:r>
              <a:t>Strategic Intelligence V26.0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Strategic Logic</a:t>
            </a:r>
          </a:p>
        </p:txBody>
      </p:sp>
      <p:sp>
        <p:nvSpPr>
          <p:cNvPr id="3" name="Content Placeholder 2"/>
          <p:cNvSpPr>
            <a:spLocks noGrp="1"/>
          </p:cNvSpPr>
          <p:nvPr>
            <p:ph idx="1"/>
          </p:nvPr>
        </p:nvSpPr>
        <p:spPr/>
        <p:txBody>
          <a:bodyPr/>
          <a:lstStyle/>
          <a:p/>
          <a:p>
            <a:pPr>
              <a:defRPr b="1" sz="1600">
                <a:solidFill>
                  <a:srgbClr val="1E1E1E"/>
                </a:solidFill>
              </a:defRPr>
            </a:pPr>
            <a:r>
              <a:t>• 완전판 심층 리포트: 초격차 전략을 위한 'Brand in Space' 프로젝트 심화 분석</a:t>
            </a:r>
          </a:p>
          <a:p>
            <a:pPr>
              <a:defRPr sz="1200"/>
            </a:pPr>
            <a:r>
              <a:t>    본 리포트는 'Brand in Space' 프로젝트의 1차 분석 요약본을 기반으로, 글로벌 전략 컨설턴트의 관점에서 초격차 수준의 심층 분석을 제공합니다. 시장의 변화를 읽고, 데이터 기반의 전략적 우위를 확보하며, 혁신적인 크리에이티브로 타겟과 소통하는 '완전판 심층 리포트'를 제시합니다.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Creative &amp; Visual</a:t>
            </a:r>
          </a:p>
        </p:txBody>
      </p:sp>
      <p:sp>
        <p:nvSpPr>
          <p:cNvPr id="3" name="Content Placeholder 2"/>
          <p:cNvSpPr>
            <a:spLocks noGrp="1"/>
          </p:cNvSpPr>
          <p:nvPr>
            <p:ph idx="1"/>
          </p:nvPr>
        </p:nvSpPr>
        <p:spPr/>
        <p:txBody>
          <a:bodyPr/>
          <a:lstStyle/>
          <a:p/>
          <a:p>
            <a:pPr>
              <a:defRPr b="1" sz="1600">
                <a:solidFill>
                  <a:srgbClr val="1E1E1E"/>
                </a:solidFill>
              </a:defRPr>
            </a:pPr>
            <a:r>
              <a:t>• Creative &amp; Visual</a:t>
            </a:r>
          </a:p>
          <a:p>
            <a:pPr>
              <a:defRPr sz="1200">
                <a:solidFill>
                  <a:srgbClr val="50505A"/>
                </a:solidFill>
              </a:defRPr>
            </a:pPr>
            <a:r>
              <a:t>  - 핵심 인플루언서 연계 숏폼 비주얼 기획안 도출.</a:t>
            </a:r>
          </a:p>
          <a:p>
            <a:pPr>
              <a:defRPr sz="1200"/>
            </a:pPr>
            <a:r>
              <a:t>    ---</a:t>
            </a:r>
          </a:p>
          <a:p>
            <a:pPr>
              <a:defRPr sz="1200"/>
            </a:pPr>
            <a:r>
              <a:t>    © 2026 Antigravity | 1차 브리핑 데이터 추출 완료.</a:t>
            </a:r>
          </a:p>
          <a:p>
            <a:pPr>
              <a:defRPr sz="1200"/>
            </a:pPr>
            <a:r>
              <a:t>    (이 파일을 기반으로 2차 딥-리서치가 PPTX를 생성합니다.)</a:t>
            </a:r>
          </a:p>
          <a:p>
            <a:pPr>
              <a:defRPr b="1" sz="1600">
                <a:solidFill>
                  <a:srgbClr val="1E1E1E"/>
                </a:solidFill>
              </a:defRPr>
            </a:pPr>
            <a:r>
              <a:t>• Creative &amp; Visual</a:t>
            </a:r>
          </a:p>
          <a:p>
            <a:pPr>
              <a:defRPr sz="1200" b="1">
                <a:solidFill>
                  <a:srgbClr val="282850"/>
                </a:solidFill>
              </a:defRPr>
            </a:pPr>
            <a:r>
              <a:t>   (인용) "오늘날의 크리에이티브는 단순한 미학을 넘어, 타겟과의 '진정성 있는 연결'을 목표로 합니다. 핵심 인플루언서의 스토리와 숏폼 비주얼의 폭발적인 파급력을 결합하여, 브랜드의 메시지를 가장 효과적이고 매력적으로 전달할 것입니다."</a:t>
            </a:r>
          </a:p>
          <a:p>
            <a:pPr>
              <a:defRPr sz="1200"/>
            </a:pPr>
            <a:r>
              <a:t>    크리에이티브 및 비주얼 전략은 '핵심 인플루언서 연계 숏폼 비주얼 기획'에 집중합니다. 브랜드의 가치와 메시지를 가장 잘 대변하고, 타겟층에 강력한 영향력을 행사하는 인플루언서를 엄선하여, 그들의 독창적인 시각으로 브랜드 스토리를 풀어내도록 지원합니다. 특히, 짧지만 강렬한 인상을 남기는 숏폼 콘텐츠를 통해 몰입도 높은 시각적 경험을 제공하고, 바이럴 확산을 극대화할 것입니다.</a:t>
            </a:r>
          </a:p>
          <a:p>
            <a:pPr>
              <a:defRPr sz="1100">
                <a:solidFill>
                  <a:srgbClr val="646478"/>
                </a:solidFill>
              </a:defRPr>
            </a:pPr>
            <a:r>
              <a:t>   [데이터 표] 장면(Scene) | 연출 의도 | 시각적 톤앤매너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Market Intelligence</a:t>
            </a:r>
          </a:p>
        </p:txBody>
      </p:sp>
      <p:sp>
        <p:nvSpPr>
          <p:cNvPr id="3" name="Content Placeholder 2"/>
          <p:cNvSpPr>
            <a:spLocks noGrp="1"/>
          </p:cNvSpPr>
          <p:nvPr>
            <p:ph idx="1"/>
          </p:nvPr>
        </p:nvSpPr>
        <p:spPr/>
        <p:txBody>
          <a:bodyPr/>
          <a:lstStyle/>
          <a:p/>
          <a:p>
            <a:pPr>
              <a:defRPr b="1" sz="1600">
                <a:solidFill>
                  <a:srgbClr val="1E1E1E"/>
                </a:solidFill>
              </a:defRPr>
            </a:pPr>
            <a:r>
              <a:t>• 1. 프로젝트 메타 인텔리전스</a:t>
            </a:r>
          </a:p>
          <a:p>
            <a:pPr>
              <a:defRPr sz="1200">
                <a:solidFill>
                  <a:srgbClr val="50505A"/>
                </a:solidFill>
              </a:defRPr>
            </a:pPr>
            <a:r>
              <a:t>  - **수집 ID**: `20260402_222956_1JzQ_ot`</a:t>
            </a:r>
          </a:p>
          <a:p>
            <a:pPr>
              <a:defRPr sz="1200">
                <a:solidFill>
                  <a:srgbClr val="50505A"/>
                </a:solidFill>
              </a:defRPr>
            </a:pPr>
            <a:r>
              <a:t>  - **분석 코어**: Antigravity V25.0 (Consultant Model)</a:t>
            </a:r>
          </a:p>
          <a:p>
            <a:pPr>
              <a:defRPr sz="1200">
                <a:solidFill>
                  <a:srgbClr val="50505A"/>
                </a:solidFill>
              </a:defRPr>
            </a:pPr>
            <a:r>
              <a:t>  - **키 필터링**: INTERNAL, Experience, Principles, INTERNAL, Experience</a:t>
            </a:r>
          </a:p>
          <a:p>
            <a:pPr>
              <a:defRPr b="1" sz="1600">
                <a:solidFill>
                  <a:srgbClr val="1E1E1E"/>
                </a:solidFill>
              </a:defRPr>
            </a:pPr>
            <a:r>
              <a:t>• Market Intelligence</a:t>
            </a:r>
          </a:p>
          <a:p>
            <a:pPr>
              <a:defRPr sz="1200">
                <a:solidFill>
                  <a:srgbClr val="50505A"/>
                </a:solidFill>
              </a:defRPr>
            </a:pPr>
            <a:r>
              <a:t>  - 시장 트렌드 변화 및 프리미엄 타겟 니즈 분석.</a:t>
            </a:r>
          </a:p>
          <a:p>
            <a:pPr>
              <a:defRPr b="1" sz="1600">
                <a:solidFill>
                  <a:srgbClr val="1E1E1E"/>
                </a:solidFill>
              </a:defRPr>
            </a:pPr>
            <a:r>
              <a:t>• Strategic Logic</a:t>
            </a:r>
          </a:p>
          <a:p>
            <a:pPr>
              <a:defRPr sz="1200">
                <a:solidFill>
                  <a:srgbClr val="50505A"/>
                </a:solidFill>
              </a:defRPr>
            </a:pPr>
            <a:r>
              <a:t>  - 데이터 기반 타겟팅 최적화 및 신규 어젠다 선점 전략.</a:t>
            </a:r>
          </a:p>
          <a:p>
            <a:pPr>
              <a:defRPr b="1" sz="1600">
                <a:solidFill>
                  <a:srgbClr val="1E1E1E"/>
                </a:solidFill>
              </a:defRPr>
            </a:pPr>
            <a:r>
              <a:t>• Market Intelligence</a:t>
            </a:r>
          </a:p>
          <a:p>
            <a:pPr>
              <a:defRPr sz="1200" b="1">
                <a:solidFill>
                  <a:srgbClr val="282850"/>
                </a:solidFill>
              </a:defRPr>
            </a:pPr>
            <a:r>
              <a:t>   (인용) "오늘날의 프리미엄 소비자는 단순한 제품을 넘어, 브랜드가 제공하는 독점적 경험과 스토리에 기꺼이 투자합니다. 이는 소유에서 경험으로의 패러다임 전환을 의미하며, 브랜드는 이 새로운 니즈를 충족시킬 '공간'을 창조해야 합니다."</a:t>
            </a:r>
          </a:p>
          <a:p>
            <a:pPr>
              <a:defRPr sz="1200"/>
            </a:pPr>
            <a:r>
              <a:t>    최근 시장은 디지털 전환 가속화와 함께 소비자 행동의 급격한 변화를 겪고 있습니다. 특히 프리미엄 타겟층은 물질적 소유를 넘어선 '경험적 가치'와 '개인화된 스토리'에 대한 갈증이 심화되고 있습니다. 소셜 미디어와 온라인 플랫폼을 통해 브랜드와 직접 소통하며, 자신만의 취향과 신념에 부합하는 브랜드를 적극적으로 탐색하는 경향이 두드러지고 있습니다.</a:t>
            </a:r>
          </a:p>
          <a:p>
            <a:pPr>
              <a:defRPr sz="1100">
                <a:solidFill>
                  <a:srgbClr val="646478"/>
                </a:solidFill>
              </a:defRPr>
            </a:pPr>
            <a:r>
              <a:t>   [데이터 표] 구분 | 현황 | 트렌드 지수</a:t>
            </a:r>
          </a:p>
          <a:p>
            <a:pPr>
              <a:defRPr b="1" sz="1600">
                <a:solidFill>
                  <a:srgbClr val="1E1E1E"/>
                </a:solidFill>
              </a:defRPr>
            </a:pPr>
            <a:r>
              <a:t>• Strategic Logic</a:t>
            </a:r>
          </a:p>
          <a:p>
            <a:pPr>
              <a:defRPr sz="1200" b="1">
                <a:solidFill>
                  <a:srgbClr val="282850"/>
                </a:solidFill>
              </a:defRPr>
            </a:pPr>
            <a:r>
              <a:t>   (인용) "데이터는 단순한 정보가 아닌, 미래 시장을 선점하고 경쟁 우위를 확보하는 핵심 엔진입니다. 우리는 정교한 데이터 분석을 통해 타겟의 숨겨진 니즈를 발굴하고, 이를 선제적 어젠다로 제시하여 시장의 흐름을 주도할 것입니다."</a:t>
            </a:r>
          </a:p>
          <a:p>
            <a:pPr>
              <a:defRPr sz="1200"/>
            </a:pPr>
            <a:r>
              <a:t>    우리의 전략은 '데이터 기반 타겟팅 최적화'와 '신규 어젠다 선점'이라는 두 축을 중심으로 전개됩니다. 방대한 소비자 데이터를 심층 분석하여 프리미엄 타겟의 미시적 행동 패턴과 잠재 니즈를 파악하고, 이를 바탕으로 개인화된 브랜드 경험을 제공할 것입니다. 또한, 시장의 변화를 예측하고 선제적으로 새로운 화두를 던져 경쟁사보다 한 발 앞서 시장을 리드하는 '퍼스트 무버' 전략을 실행합니다.</a:t>
            </a:r>
          </a:p>
          <a:p>
            <a:pPr>
              <a:defRPr sz="1100">
                <a:solidFill>
                  <a:srgbClr val="646478"/>
                </a:solidFill>
              </a:defRPr>
            </a:pPr>
            <a:r>
              <a:t>   [데이터 표] 전략 Phase | 세부 Action Plan | 핵심 KPI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