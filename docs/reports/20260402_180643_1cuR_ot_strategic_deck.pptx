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b="1">
                <a:solidFill>
                  <a:srgbClr val="000000"/>
                </a:solidFill>
              </a:defRPr>
            </a:pPr>
            <a:r>
              <a:t>OT 분석 기획안 (1차)</a:t>
            </a:r>
          </a:p>
        </p:txBody>
      </p:sp>
      <p:sp>
        <p:nvSpPr>
          <p:cNvPr id="3" name="Subtitle 2"/>
          <p:cNvSpPr>
            <a:spLocks noGrp="1"/>
          </p:cNvSpPr>
          <p:nvPr>
            <p:ph type="subTitle" idx="1"/>
          </p:nvPr>
        </p:nvSpPr>
        <p:spPr/>
        <p:txBody>
          <a:bodyPr/>
          <a:lstStyle/>
          <a:p>
            <a:pPr>
              <a:defRPr>
                <a:solidFill>
                  <a:srgbClr val="646464"/>
                </a:solidFill>
              </a:defRPr>
            </a:pPr>
            <a:r>
              <a:t>Job ID: 20260402_180643_1cuR_ot</a:t>
            </a:r>
          </a:p>
          <a:p>
            <a:r>
              <a:t>Strategic Intelligence V26.0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solidFill>
                  <a:srgbClr val="002855"/>
                </a:solidFill>
              </a:defRPr>
            </a:pPr>
            <a:r>
              <a:t>Creative &amp; Visual</a:t>
            </a:r>
          </a:p>
        </p:txBody>
      </p:sp>
      <p:sp>
        <p:nvSpPr>
          <p:cNvPr id="3" name="Content Placeholder 2"/>
          <p:cNvSpPr>
            <a:spLocks noGrp="1"/>
          </p:cNvSpPr>
          <p:nvPr>
            <p:ph idx="1"/>
          </p:nvPr>
        </p:nvSpPr>
        <p:spPr/>
        <p:txBody>
          <a:bodyPr/>
          <a:lstStyle/>
          <a:p/>
          <a:p>
            <a:pPr>
              <a:defRPr b="1" sz="1600">
                <a:solidFill>
                  <a:srgbClr val="1E1E1E"/>
                </a:solidFill>
              </a:defRPr>
            </a:pPr>
            <a:r>
              <a:t>• Creative &amp; Visual</a:t>
            </a:r>
          </a:p>
          <a:p>
            <a:pPr>
              <a:defRPr sz="1200">
                <a:solidFill>
                  <a:srgbClr val="50505A"/>
                </a:solidFill>
              </a:defRPr>
            </a:pPr>
            <a:r>
              <a:t>  - 유명 셀렙과의 연출 경험이 있으신분. 또한 그 유명 셀렙의 캐릭터를 잘</a:t>
            </a:r>
          </a:p>
          <a:p>
            <a:pPr>
              <a:defRPr sz="1200">
                <a:solidFill>
                  <a:srgbClr val="50505A"/>
                </a:solidFill>
              </a:defRPr>
            </a:pPr>
            <a:r>
              <a:t>  - 표현하여 연출 가능하신 분</a:t>
            </a:r>
          </a:p>
          <a:p>
            <a:pPr>
              <a:defRPr sz="1200">
                <a:solidFill>
                  <a:srgbClr val="50505A"/>
                </a:solidFill>
              </a:defRPr>
            </a:pPr>
            <a:r>
              <a:t>  - 2) 현 스토리보드를 참고만 해주시고, 자유롭게 White Musk의 컨셉을 표현 부탁드립니다.</a:t>
            </a:r>
          </a:p>
          <a:p>
            <a:pPr>
              <a:defRPr sz="1200">
                <a:solidFill>
                  <a:srgbClr val="50505A"/>
                </a:solidFill>
              </a:defRPr>
            </a:pPr>
            <a:r>
              <a:t>  - 현 스토리보르를 참고만 해주시고, White Musk컨셉을 자유롭게 표현부탁드립니다</a:t>
            </a:r>
          </a:p>
          <a:p>
            <a:pPr>
              <a:defRPr b="1" sz="1600">
                <a:solidFill>
                  <a:srgbClr val="1E1E1E"/>
                </a:solidFill>
              </a:defRPr>
            </a:pPr>
            <a:r>
              <a:t>• Creative &amp; Visual</a:t>
            </a:r>
          </a:p>
          <a:p>
            <a:pPr>
              <a:defRPr sz="1200" b="1">
                <a:solidFill>
                  <a:srgbClr val="282850"/>
                </a:solidFill>
              </a:defRPr>
            </a:pPr>
            <a:r>
              <a:t>   (인용) "소셜 미디어의 과도한 필터 사용과 AI 이미지 조작에 대한 피로감이 증가하면서, 자연스러운 아름다움을 추구하는 '필터리스' 트렌드가 급부상하고 있습니다."</a:t>
            </a:r>
          </a:p>
          <a:p>
            <a:pPr>
              <a:defRPr sz="1200"/>
            </a:pPr>
            <a:r>
              <a:t>    이번 크리에이티브는 'White Musk, 그 자체로 완벽한 장원영의 아우라'를 핵심 컨셉으로 삼습니다. 인위적인 미의 기준에서 벗어나, 장원영 본연의 깨끗하고 맑은 이미지와 그녀가 지닌 자연스러운 아름다움을 '필터리스' 트렌드에 맞춰 진정성 있게 담아낼 것입니다. 유명 셀럽과의 연출 경험을 바탕으로, 장원영님의 캐릭터를 가장 잘 표현할 수 있는 섬세한 디렉팅을 통해 White Musk의 순수함과 우아함을 시각적으로 구현합니다.</a:t>
            </a:r>
          </a:p>
          <a:p>
            <a:pPr>
              <a:defRPr sz="1200"/>
            </a:pPr>
            <a:r>
              <a:t>    기존 스토리보드를 참고하되, White Musk 컨셉을 자유롭게 해석하여 장원영님의 브랜딩을 극대화하는 독창적인 연출을 제안합니다. 이는 향수의 '보이지 않는 가치'를 '보이는 아름다움'으로 승화시키는 작업이 될 것입니다. 특히, 장원영님의 표정, 손짓, 시선 처리 등 미묘한 디테일을 포착하는 클로즈업과 그녀의 전신에서 뿜어져 나오는 아우라를 담는 풀 샷을 전략적으로 활용하여, White Musk가 선사하는 '섬세하면서도 강렬한 존재감'을 시청각적으로 완벽하게 전달할 것입니다.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solidFill>
                  <a:srgbClr val="002855"/>
                </a:solidFill>
              </a:defRPr>
            </a:pPr>
            <a:r>
              <a:t>Market Intelligence</a:t>
            </a:r>
          </a:p>
        </p:txBody>
      </p:sp>
      <p:sp>
        <p:nvSpPr>
          <p:cNvPr id="3" name="Content Placeholder 2"/>
          <p:cNvSpPr>
            <a:spLocks noGrp="1"/>
          </p:cNvSpPr>
          <p:nvPr>
            <p:ph idx="1"/>
          </p:nvPr>
        </p:nvSpPr>
        <p:spPr/>
        <p:txBody>
          <a:bodyPr/>
          <a:lstStyle/>
          <a:p/>
          <a:p>
            <a:pPr>
              <a:defRPr b="1" sz="1600">
                <a:solidFill>
                  <a:srgbClr val="1E1E1E"/>
                </a:solidFill>
              </a:defRPr>
            </a:pPr>
            <a:r>
              <a:t>• 1. 프로젝트 메타 인텔리전스</a:t>
            </a:r>
          </a:p>
          <a:p>
            <a:pPr>
              <a:defRPr sz="1200">
                <a:solidFill>
                  <a:srgbClr val="50505A"/>
                </a:solidFill>
              </a:defRPr>
            </a:pPr>
            <a:r>
              <a:t>  - **수집 ID**: `20260402_180643_1cuR_ot`</a:t>
            </a:r>
          </a:p>
          <a:p>
            <a:pPr>
              <a:defRPr sz="1200">
                <a:solidFill>
                  <a:srgbClr val="50505A"/>
                </a:solidFill>
              </a:defRPr>
            </a:pPr>
            <a:r>
              <a:t>  - **분석 코어**: Antigravity V25.0 (Consultant Model)</a:t>
            </a:r>
          </a:p>
          <a:p>
            <a:pPr>
              <a:defRPr sz="1200">
                <a:solidFill>
                  <a:srgbClr val="50505A"/>
                </a:solidFill>
              </a:defRPr>
            </a:pPr>
            <a:r>
              <a:t>  - **키 필터링**: Malone, Leverage, Production, Bid, Brief</a:t>
            </a:r>
          </a:p>
          <a:p>
            <a:pPr>
              <a:defRPr b="1" sz="1600">
                <a:solidFill>
                  <a:srgbClr val="1E1E1E"/>
                </a:solidFill>
              </a:defRPr>
            </a:pPr>
            <a:r>
              <a:t>• Market Intelligence</a:t>
            </a:r>
          </a:p>
          <a:p>
            <a:pPr>
              <a:defRPr sz="1200">
                <a:solidFill>
                  <a:srgbClr val="50505A"/>
                </a:solidFill>
              </a:defRPr>
            </a:pPr>
            <a:r>
              <a:t>  - 시장 트렌드 변화 및 프리미엄 타겟 니즈 분석.</a:t>
            </a:r>
          </a:p>
          <a:p>
            <a:pPr>
              <a:defRPr b="1" sz="1600">
                <a:solidFill>
                  <a:srgbClr val="1E1E1E"/>
                </a:solidFill>
              </a:defRPr>
            </a:pPr>
            <a:r>
              <a:t>• Strategic Logic</a:t>
            </a:r>
          </a:p>
          <a:p>
            <a:pPr>
              <a:defRPr sz="1200">
                <a:solidFill>
                  <a:srgbClr val="50505A"/>
                </a:solidFill>
              </a:defRPr>
            </a:pPr>
            <a:r>
              <a:t>  - 브랜드의 커뮤니케이션 아이디어를 충분히 이해하고 최대치의 표현이</a:t>
            </a:r>
          </a:p>
          <a:p>
            <a:pPr>
              <a:defRPr sz="1200">
                <a:solidFill>
                  <a:srgbClr val="50505A"/>
                </a:solidFill>
              </a:defRPr>
            </a:pPr>
            <a:r>
              <a:t>  - 확실히 전달하는 기획 (스토리보드)와 연출 아이디어 (Director’s Board)를 제시 부탁드립니다.</a:t>
            </a:r>
          </a:p>
          <a:p>
            <a:pPr>
              <a:defRPr sz="1200">
                <a:solidFill>
                  <a:srgbClr val="50505A"/>
                </a:solidFill>
              </a:defRPr>
            </a:pPr>
            <a:r>
              <a:t>  - └장원영님의 장점, 특징을 잘 끌어내는 아이디어 (앵글, 클로즈업등)</a:t>
            </a:r>
          </a:p>
          <a:p>
            <a:pPr>
              <a:defRPr b="1" sz="1600">
                <a:solidFill>
                  <a:srgbClr val="1E1E1E"/>
                </a:solidFill>
              </a:defRPr>
            </a:pPr>
            <a:r>
              <a:t>• Market Intelligence</a:t>
            </a:r>
          </a:p>
          <a:p>
            <a:pPr>
              <a:defRPr sz="1200" b="1">
                <a:solidFill>
                  <a:srgbClr val="282850"/>
                </a:solidFill>
              </a:defRPr>
            </a:pPr>
            <a:r>
              <a:t>   (인용) "프리미엄 향수 시장은 소비자들이 경험적이고 감성적인 고급스러움에 대한 지출 의지를 높여가고 있으며, 향수는 자신을 표현할 수 있는 사치품으로 인식되고 있습니다."</a:t>
            </a:r>
          </a:p>
          <a:p>
            <a:pPr>
              <a:defRPr sz="1200"/>
            </a:pPr>
            <a:r>
              <a:t>    글로벌 뷰티 시장은 개인화된 경험과 감성적 가치를 중시하는 프리미엄 트렌드가 가속화되고 있습니다. 특히 향수 시장은 2026년부터 2031년까지 연평균 8.04%의 높은 성장률을 기록하며 1,212억 6천만 달러 규모로 성장할 것으로 전망되며, 이 중 프리미엄 부문은 전체 시장의 약 65.25%를 차지하며 가장 빠르게 성장하는 핵심 동력으로 자리매김하고 있습니다. 소비자들은 단순한 제품을 넘어, 자신을 표현하고 특별한 경험을 선사하는 향수에 기꺼이 투자하고 있습니다.</a:t>
            </a:r>
          </a:p>
          <a:p>
            <a:pPr>
              <a:defRPr sz="1200"/>
            </a:pPr>
            <a:r>
              <a:t>    이러한 흐름 속에서 K-뷰티는 K-팝 아이돌의 강력한 글로벌 팬덤에 힘입어 전 세계적으로 전례 없는 성장세를 보이고 있습니다. 특히 10대에서 30대 여성 팬층은 K-팝 콘텐츠를 넘어 K-뷰티 제품 구매로 이어지는 강력한 구매력을 가지고 있으며, 이는 브랜드 인지도 제고를 넘어 실질적인 매출 증대로 직결되고 있습니다. 장원영과 같은 최정상 K-팝 아이돌은 단순한 모델을 넘어, 그들의 라이프스타일과 이미지가 곧 브랜드의 가치로 투영되는 강력한 글로벌 앰버서더 역할을 수행하고 있습니다.</a:t>
            </a:r>
          </a:p>
          <a:p>
            <a:pPr>
              <a:defRPr b="1" sz="1600">
                <a:solidFill>
                  <a:srgbClr val="1E1E1E"/>
                </a:solidFill>
              </a:defRPr>
            </a:pPr>
            <a:r>
              <a:t>• Strategic Logic</a:t>
            </a:r>
          </a:p>
          <a:p>
            <a:pPr>
              <a:defRPr sz="1200" b="1">
                <a:solidFill>
                  <a:srgbClr val="282850"/>
                </a:solidFill>
              </a:defRPr>
            </a:pPr>
            <a:r>
              <a:t>   (인용) "명품 브랜드들은 제품의 품질이 아니라, 제품의 '이야기'를 팔고 있고 그 이야기를 '고객에게 투영'시키고 있습니다."</a:t>
            </a:r>
          </a:p>
          <a:p>
            <a:pPr>
              <a:defRPr sz="1200"/>
            </a:pPr>
            <a:r>
              <a:t>    우리의 전략은 단순한 제품 광고를 넘어, White Musk의 본질적인 가치와 장원영이라는 시대의 아이콘이 지닌 독보적인 매력을 하나의 완벽한 스토리로 엮어내는 데 있습니다. 이는 소비자가 제품을 통해 '성공한 나', '아름다운 나'를 투영하고 경험하게 하는 '가치 기반 가격 책정' 전략과 일맥상통합니다.</a:t>
            </a:r>
          </a:p>
          <a:p>
            <a:pPr>
              <a:defRPr sz="1200"/>
            </a:pPr>
            <a:r>
              <a:t>    장원영님의 강점과 특징을 최대한으로 끌어내는 연출 아이디어는 White Musk 컨셉과 시너지를 창출하는 핵심 요소입니다. 그녀의 투명하고 자신감 있는 이미지는 White Musk가 지향하는 순수함, 우아함, 그리고 섬세하면서도 강렬한 존재감을 완벽하게 대변할 수 있습니다. 우리는 앵글, 클로즈업 등 디테일한 연출 기법을 통해 장원영님의 독보적인 비주얼과 아우라를 극대화하고, 이를 통해 White Musk의 향이 선사하는 감각적 경험을 시각적으로 구현할 것입니다. 최종적으로, 브랜드의 커뮤니케이션 아이디어를 충분히 이해하고 최대치의 표현을 확실히 전달하는 'Director’s Board'를 통해 초격차적인 결과물을 제시할 것입니다.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