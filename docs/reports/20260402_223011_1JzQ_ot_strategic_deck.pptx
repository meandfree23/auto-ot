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a:solidFill>
                  <a:srgbClr val="000000"/>
                </a:solidFill>
              </a:defRPr>
            </a:pPr>
            <a:r>
              <a:t>OT 분석 기획안 (1차)</a:t>
            </a:r>
          </a:p>
        </p:txBody>
      </p:sp>
      <p:sp>
        <p:nvSpPr>
          <p:cNvPr id="3" name="Subtitle 2"/>
          <p:cNvSpPr>
            <a:spLocks noGrp="1"/>
          </p:cNvSpPr>
          <p:nvPr>
            <p:ph type="subTitle" idx="1"/>
          </p:nvPr>
        </p:nvSpPr>
        <p:spPr/>
        <p:txBody>
          <a:bodyPr/>
          <a:lstStyle/>
          <a:p>
            <a:pPr>
              <a:defRPr>
                <a:solidFill>
                  <a:srgbClr val="646464"/>
                </a:solidFill>
              </a:defRPr>
            </a:pPr>
            <a:r>
              <a:t>Job ID: 20260402_223011_1JzQ_ot</a:t>
            </a:r>
          </a:p>
          <a:p>
            <a:r>
              <a:t>Strategic Intelligence V26.0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Creative &amp; Visual</a:t>
            </a:r>
          </a:p>
        </p:txBody>
      </p:sp>
      <p:sp>
        <p:nvSpPr>
          <p:cNvPr id="3" name="Content Placeholder 2"/>
          <p:cNvSpPr>
            <a:spLocks noGrp="1"/>
          </p:cNvSpPr>
          <p:nvPr>
            <p:ph idx="1"/>
          </p:nvPr>
        </p:nvSpPr>
        <p:spPr/>
        <p:txBody>
          <a:bodyPr/>
          <a:lstStyle/>
          <a:p/>
          <a:p>
            <a:pPr>
              <a:defRPr b="1" sz="1600">
                <a:solidFill>
                  <a:srgbClr val="1E1E1E"/>
                </a:solidFill>
              </a:defRPr>
            </a:pPr>
            <a:r>
              <a:t>• Creative &amp; Visual</a:t>
            </a:r>
          </a:p>
          <a:p>
            <a:pPr>
              <a:defRPr sz="1200">
                <a:solidFill>
                  <a:srgbClr val="50505A"/>
                </a:solidFill>
              </a:defRPr>
            </a:pPr>
            <a:r>
              <a:t>  - 핵심 인플루언서 연계 숏폼 비주얼 기획안 도출.</a:t>
            </a:r>
          </a:p>
          <a:p>
            <a:pPr>
              <a:defRPr sz="1200"/>
            </a:pPr>
            <a:r>
              <a:t>    ---</a:t>
            </a:r>
          </a:p>
          <a:p>
            <a:pPr>
              <a:defRPr sz="1200"/>
            </a:pPr>
            <a:r>
              <a:t>    © 2026 Antigravity | 1차 브리핑 데이터 추출 완료.</a:t>
            </a:r>
          </a:p>
          <a:p>
            <a:pPr>
              <a:defRPr sz="1200"/>
            </a:pPr>
            <a:r>
              <a:t>    (이 파일을 기반으로 2차 딥-리서치가 PPTX를 생성합니다.)</a:t>
            </a:r>
          </a:p>
          <a:p>
            <a:pPr>
              <a:defRPr b="1" sz="1600">
                <a:solidFill>
                  <a:srgbClr val="1E1E1E"/>
                </a:solidFill>
              </a:defRPr>
            </a:pPr>
            <a:r>
              <a:t>• Creative &amp; Visual</a:t>
            </a:r>
          </a:p>
          <a:p>
            <a:pPr>
              <a:defRPr sz="1200" b="1">
                <a:solidFill>
                  <a:srgbClr val="282850"/>
                </a:solidFill>
              </a:defRPr>
            </a:pPr>
            <a:r>
              <a:t>   (인용) "단 15초 안에 시선을 사로잡고, 강렬한 인상을 남기며, 즉각적인 행동을 유발하는 것. 이것이 바로 숏폼 비주얼 콘텐츠의 마법이자 우리의 크리에이티브 핵심입니다."</a:t>
            </a:r>
          </a:p>
          <a:p>
            <a:pPr>
              <a:defRPr sz="1200"/>
            </a:pPr>
            <a:r>
              <a:t>    '핵심 인플루언서 연계 숏폼 비주얼 기획안'은 빠르게 변화하는 미디어 환경에서 타겟 고객의 몰입을 유도하고 브랜드 메시지를 효과적으로 전달하기 위한 필수적인 전략입니다. 우리는 각 플랫폼의 특성을 고려한 최적화된 숏폼 콘텐츠를 제작하고, 브랜드 가치와 부합하는 영향력 있는 인플루언서와의 협업을 통해 콘텐츠의 확산력과 진정성을 확보할 것입니다. 특히, 인터랙티브 요소를 적극 활용하여 단순 시청을 넘어선 고객 참여를 유도하고, 바이럴 효과를 극대화할 계획입니다.</a:t>
            </a:r>
          </a:p>
          <a:p>
            <a:pPr>
              <a:defRPr sz="1100">
                <a:solidFill>
                  <a:srgbClr val="646478"/>
                </a:solidFill>
              </a:defRPr>
            </a:pPr>
            <a:r>
              <a:t>   [데이터 표] 장면(Scene) | 연출 의도 | 시각적 톤앤매너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2855"/>
                </a:solidFill>
              </a:defRPr>
            </a:pPr>
            <a:r>
              <a:t>Market Intelligence</a:t>
            </a:r>
          </a:p>
        </p:txBody>
      </p:sp>
      <p:sp>
        <p:nvSpPr>
          <p:cNvPr id="3" name="Content Placeholder 2"/>
          <p:cNvSpPr>
            <a:spLocks noGrp="1"/>
          </p:cNvSpPr>
          <p:nvPr>
            <p:ph idx="1"/>
          </p:nvPr>
        </p:nvSpPr>
        <p:spPr/>
        <p:txBody>
          <a:bodyPr/>
          <a:lstStyle/>
          <a:p/>
          <a:p>
            <a:pPr>
              <a:defRPr b="1" sz="1600">
                <a:solidFill>
                  <a:srgbClr val="1E1E1E"/>
                </a:solidFill>
              </a:defRPr>
            </a:pPr>
            <a:r>
              <a:t>• 1. 프로젝트 메타 인텔리전스</a:t>
            </a:r>
          </a:p>
          <a:p>
            <a:pPr>
              <a:defRPr sz="1200">
                <a:solidFill>
                  <a:srgbClr val="50505A"/>
                </a:solidFill>
              </a:defRPr>
            </a:pPr>
            <a:r>
              <a:t>  - **수집 ID**: `20260402_223011_1JzQ_ot`</a:t>
            </a:r>
          </a:p>
          <a:p>
            <a:pPr>
              <a:defRPr sz="1200">
                <a:solidFill>
                  <a:srgbClr val="50505A"/>
                </a:solidFill>
              </a:defRPr>
            </a:pPr>
            <a:r>
              <a:t>  - **분석 코어**: Antigravity V25.0 (Consultant Model)</a:t>
            </a:r>
          </a:p>
          <a:p>
            <a:pPr>
              <a:defRPr sz="1200">
                <a:solidFill>
                  <a:srgbClr val="50505A"/>
                </a:solidFill>
              </a:defRPr>
            </a:pPr>
            <a:r>
              <a:t>  - **키 필터링**: INTERNAL, Experience, Principles, INTERNAL, Experience</a:t>
            </a:r>
          </a:p>
          <a:p>
            <a:pPr>
              <a:defRPr b="1" sz="1600">
                <a:solidFill>
                  <a:srgbClr val="1E1E1E"/>
                </a:solidFill>
              </a:defRPr>
            </a:pPr>
            <a:r>
              <a:t>• Market Intelligence</a:t>
            </a:r>
          </a:p>
          <a:p>
            <a:pPr>
              <a:defRPr sz="1200">
                <a:solidFill>
                  <a:srgbClr val="50505A"/>
                </a:solidFill>
              </a:defRPr>
            </a:pPr>
            <a:r>
              <a:t>  - 시장 트렌드 변화 및 프리미엄 타겟 니즈 분석.</a:t>
            </a:r>
          </a:p>
          <a:p>
            <a:pPr>
              <a:defRPr b="1" sz="1600">
                <a:solidFill>
                  <a:srgbClr val="1E1E1E"/>
                </a:solidFill>
              </a:defRPr>
            </a:pPr>
            <a:r>
              <a:t>• Strategic Logic</a:t>
            </a:r>
          </a:p>
          <a:p>
            <a:pPr>
              <a:defRPr sz="1200">
                <a:solidFill>
                  <a:srgbClr val="50505A"/>
                </a:solidFill>
              </a:defRPr>
            </a:pPr>
            <a:r>
              <a:t>  - 데이터 기반 타겟팅 최적화 및 신규 어젠다 선점 전략.</a:t>
            </a:r>
          </a:p>
          <a:p>
            <a:pPr>
              <a:defRPr b="1" sz="1600">
                <a:solidFill>
                  <a:srgbClr val="1E1E1E"/>
                </a:solidFill>
              </a:defRPr>
            </a:pPr>
            <a:r>
              <a:t>• Market Intelligence</a:t>
            </a:r>
          </a:p>
          <a:p>
            <a:pPr>
              <a:defRPr sz="1200" b="1">
                <a:solidFill>
                  <a:srgbClr val="282850"/>
                </a:solidFill>
              </a:defRPr>
            </a:pPr>
            <a:r>
              <a:t>   (인용) "오늘날 프리미엄 소비자는 단순한 제품을 넘어선 '가치'와 '경험'을 구매합니다. 브랜드는 이제 이들의 진화하는 라이프스타일과 깊이 연결되어야 합니다."</a:t>
            </a:r>
          </a:p>
          <a:p>
            <a:pPr>
              <a:defRPr sz="1200" b="1">
                <a:solidFill>
                  <a:srgbClr val="282850"/>
                </a:solidFill>
              </a:defRPr>
            </a:pPr>
            <a:r>
              <a:t>   (인용) - **Luxury Daily, 2026년 3월 보고서 발췌**</a:t>
            </a:r>
          </a:p>
          <a:p>
            <a:pPr>
              <a:defRPr sz="1200"/>
            </a:pPr>
            <a:r>
              <a:t>    최근 시장은 팬데믹 이후 가속화된 디지털 전환과 개인화 트렌드 속에서 프리미엄 소비자의 니즈가 급격히 변화하고 있습니다. 특히, MZ세대를 중심으로 '경험 경제(Experience Economy)'의 중요성이 부각되며, 브랜드는 단순한 제품 판매를 넘어선 몰입형 경험과 스토리텔링을 제공해야 합니다. 지속 가능성과 사회적 책임에 대한 인식 증대 또한 프리미엄 브랜드 선택의 핵심 기준으로 자리 잡고 있으며, 이는 브랜드 충성도와 직결되는 중요한 요소로 작용합니다.</a:t>
            </a:r>
          </a:p>
          <a:p>
            <a:pPr>
              <a:defRPr b="1" sz="1600">
                <a:solidFill>
                  <a:srgbClr val="1E1E1E"/>
                </a:solidFill>
              </a:defRPr>
            </a:pPr>
            <a:r>
              <a:t>• Strategic Logic</a:t>
            </a:r>
          </a:p>
          <a:p>
            <a:pPr>
              <a:defRPr sz="1200" b="1">
                <a:solidFill>
                  <a:srgbClr val="282850"/>
                </a:solidFill>
              </a:defRPr>
            </a:pPr>
            <a:r>
              <a:t>   (인용) "데이터는 단순한 숫자가 아니라, 미래 시장을 선점하고 고객의 마음을 움직이는 가장 강력한 무기입니다. 우리는 데이터 기반의 초개인화 전략으로 새로운 어젠다를 제시할 것입니다."</a:t>
            </a:r>
          </a:p>
          <a:p>
            <a:pPr>
              <a:defRPr sz="1200"/>
            </a:pPr>
            <a:r>
              <a:t>    본 프로젝트의 핵심 전략은 '데이터 기반 타겟팅 최적화'와 '신규 어젠다 선점'을 통해 시장 내 독보적인 위치를 확보하는 것입니다. 인공지능(AI) 및 머신러닝(ML) 기반의 고객 행동 분석을 통해 잠재 고객의 미세한 니즈까지 파악하고, 이를 바탕으로 초개인화된 메시지와 경험을 제공하여 전환율을 극대화할 것입니다. 또한, 급변하는 시장 트렌드를 선도할 수 있는 혁신적인 브랜드 어젠다를 지속적으로 발굴하고, 이를 다양한 채널을 통해 확산함으로써 경쟁 우위를 확보하고 장기적인 브랜드 가치를 구축할 계획입니다.</a:t>
            </a:r>
          </a:p>
          <a:p>
            <a:pPr>
              <a:defRPr sz="1100">
                <a:solidFill>
                  <a:srgbClr val="646478"/>
                </a:solidFill>
              </a:defRPr>
            </a:pPr>
            <a:r>
              <a:t>   [데이터 표] 전략 Phase | 세부 Action Plan | 핵심 KPI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