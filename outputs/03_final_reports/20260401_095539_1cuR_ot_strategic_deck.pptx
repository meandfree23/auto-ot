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0000"/>
                </a:solidFill>
              </a:defRPr>
            </a:pPr>
            <a:r>
              <a:t>OT 분석 기획안 (1차)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646464"/>
                </a:solidFill>
              </a:defRPr>
            </a:pPr>
            <a:r>
              <a:t>Job ID: 20260401_095539_1cuR_ot</a:t>
            </a:r>
          </a:p>
          <a:p>
            <a:r>
              <a:t>Strategic Intelligence V25.0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855"/>
                </a:solidFill>
              </a:defRPr>
            </a:pPr>
            <a:r>
              <a:t>Creative &amp; Visual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600">
                <a:solidFill>
                  <a:srgbClr val="1E1E1E"/>
                </a:solidFill>
              </a:defRPr>
            </a:pPr>
            <a:r>
              <a:t>• Creative &amp; Visual</a:t>
            </a:r>
          </a:p>
          <a:p>
            <a:pPr>
              <a:defRPr sz="1200">
                <a:solidFill>
                  <a:srgbClr val="50505A"/>
                </a:solidFill>
              </a:defRPr>
            </a:pPr>
            <a:r>
              <a:t>  - 장원영의 '우아하고 세련된' 이미지를 극대화하는 앵글 및 클로즈업 연출을 통해, 제품이 선사하는 '프리미엄 셀프 케어' 경험 시각화 전략.</a:t>
            </a:r>
          </a:p>
          <a:p>
            <a:pPr>
              <a:defRPr sz="1200">
                <a:solidFill>
                  <a:srgbClr val="50505A"/>
                </a:solidFill>
              </a:defRPr>
            </a:pPr>
            <a:r>
              <a:t>  - '유러피안 클래식 5성급 호텔 스파'의 깨끗하고 따뜻한 화이트 톤 공간 연출을 통해, 시각적으로 압도적인 럭셔리 무드 조성 전략.</a:t>
            </a:r>
          </a:p>
          <a:p>
            <a:pPr>
              <a:defRPr sz="1200">
                <a:solidFill>
                  <a:srgbClr val="50505A"/>
                </a:solidFill>
              </a:defRPr>
            </a:pPr>
            <a:r>
              <a:t>  - 패키지 아치 문 등 '유니크한 트랜지션' 요소를 활용하여 일상과 환상적인 향기 세계를 넘나드는 몰입형 스토리텔링 구축 전략.</a:t>
            </a:r>
          </a:p>
          <a:p>
            <a:pPr>
              <a:defRPr sz="1200">
                <a:solidFill>
                  <a:srgbClr val="50505A"/>
                </a:solidFill>
              </a:defRPr>
            </a:pPr>
            <a:r>
              <a:t>  - 고품질 CG 및 인상적인 음악/사운드 이펙트 활용을 통해 '7일간 피어나는 향기'의 추상적 개념을 오감으로 인지 가능한 구체적 경험으로 구현 전략.</a:t>
            </a:r>
          </a:p>
          <a:p>
            <a:pPr>
              <a:defRPr b="1" sz="1600">
                <a:solidFill>
                  <a:srgbClr val="1E1E1E"/>
                </a:solidFill>
              </a:defRPr>
            </a:pPr>
            <a:r>
              <a:t>• Creative &amp; Visual</a:t>
            </a:r>
          </a:p>
          <a:p>
            <a:pPr>
              <a:defRPr sz="1200">
                <a:solidFill>
                  <a:srgbClr val="50505A"/>
                </a:solidFill>
              </a:defRPr>
            </a:pPr>
            <a:r>
              <a:t>  - 장원영의 '우아하고 세련된' 이미지를 극대화하는 미장센과 앵글, 클로즈업 연출을 통한 '프리미엄 셀프 케어' 경험의 시각적 절정 구현.</a:t>
            </a:r>
          </a:p>
          <a:p>
            <a:pPr>
              <a:defRPr sz="1200">
                <a:solidFill>
                  <a:srgbClr val="50505A"/>
                </a:solidFill>
              </a:defRPr>
            </a:pPr>
            <a:r>
              <a:t>  - '유러피안 클래식 5성급 호텔 스파'의 깨끗하고 따뜻한 화이트 톤 공간 구현을 통한 시각적 럭셔리 앰비언스의 극대화.</a:t>
            </a:r>
          </a:p>
          <a:p>
            <a:pPr>
              <a:defRPr sz="1200">
                <a:solidFill>
                  <a:srgbClr val="50505A"/>
                </a:solidFill>
              </a:defRPr>
            </a:pPr>
            <a:r>
              <a:t>  - 패키지 아치 문 등 '유니크한 트랜지션' 요소를 활용, 일상과 환상적 향기 세계를 넘나드는 서사적 몰입감 심화.</a:t>
            </a:r>
          </a:p>
          <a:p>
            <a:pPr>
              <a:defRPr sz="1200">
                <a:solidFill>
                  <a:srgbClr val="50505A"/>
                </a:solidFill>
              </a:defRPr>
            </a:pPr>
            <a:r>
              <a:t>  - 고품질 CG 및 인상적인 음악/사운드 이펙트 활용을 통한 '7일간 피어나는 향기'의 추상적 개념을 오감으로 인지 가능한 초현실적 경험으로 구현.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855"/>
                </a:solidFill>
              </a:defRPr>
            </a:pPr>
            <a:r>
              <a:t>Market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600">
                <a:solidFill>
                  <a:srgbClr val="1E1E1E"/>
                </a:solidFill>
              </a:defRPr>
            </a:pPr>
            <a:r>
              <a:t>• 1. 프로젝트 메타 인텔리전스</a:t>
            </a:r>
          </a:p>
          <a:p>
            <a:pPr>
              <a:defRPr sz="1200">
                <a:solidFill>
                  <a:srgbClr val="50505A"/>
                </a:solidFill>
              </a:defRPr>
            </a:pPr>
            <a:r>
              <a:t>  - **수집 ID**: `20260401_095539_1cuR_ot`</a:t>
            </a:r>
          </a:p>
          <a:p>
            <a:pPr>
              <a:defRPr sz="1200">
                <a:solidFill>
                  <a:srgbClr val="50505A"/>
                </a:solidFill>
              </a:defRPr>
            </a:pPr>
            <a:r>
              <a:t>  - **분석 코어**: Antigravity V25.0 (Consultant Model)</a:t>
            </a:r>
          </a:p>
          <a:p>
            <a:pPr>
              <a:defRPr sz="1200">
                <a:solidFill>
                  <a:srgbClr val="50505A"/>
                </a:solidFill>
              </a:defRPr>
            </a:pPr>
            <a:r>
              <a:t>  - **키 필터링**: Malone, Leverage, Production, Bid, Brief</a:t>
            </a:r>
          </a:p>
          <a:p>
            <a:pPr>
              <a:defRPr b="1" sz="1600">
                <a:solidFill>
                  <a:srgbClr val="1E1E1E"/>
                </a:solidFill>
              </a:defRPr>
            </a:pPr>
            <a:r>
              <a:t>• Market Intelligence</a:t>
            </a:r>
          </a:p>
          <a:p>
            <a:pPr>
              <a:defRPr sz="1200">
                <a:solidFill>
                  <a:srgbClr val="50505A"/>
                </a:solidFill>
              </a:defRPr>
            </a:pPr>
            <a:r>
              <a:t>  - 타겟 소비자의 '작은 사치' 및 '셀프 케어' 욕구 심층 분석을 통한 감성적 연결점 발굴 전략.</a:t>
            </a:r>
          </a:p>
          <a:p>
            <a:pPr>
              <a:defRPr sz="1200">
                <a:solidFill>
                  <a:srgbClr val="50505A"/>
                </a:solidFill>
              </a:defRPr>
            </a:pPr>
            <a:r>
              <a:t>  - 경쟁사 대비 차별화된 '오감 만족 럭셔리 경험' 포지셔닝을 통한 시장 내 독보적 위상 확보 전략.</a:t>
            </a:r>
          </a:p>
          <a:p>
            <a:pPr>
              <a:defRPr sz="1200">
                <a:solidFill>
                  <a:srgbClr val="50505A"/>
                </a:solidFill>
              </a:defRPr>
            </a:pPr>
            <a:r>
              <a:t>  - 기존 '지루한 다우니' 이미지 탈피를 위한 브랜드 재활성화 및 프리미엄 세계관 구축 전략.</a:t>
            </a:r>
          </a:p>
          <a:p>
            <a:pPr>
              <a:defRPr sz="1200">
                <a:solidFill>
                  <a:srgbClr val="50505A"/>
                </a:solidFill>
              </a:defRPr>
            </a:pPr>
            <a:r>
              <a:t>  - 장원영 셀럽의 '우아하고 세련된' 이미지를 활용한 브랜드 가치 극대화 및 타겟 공감대 형성 전략.</a:t>
            </a:r>
          </a:p>
          <a:p>
            <a:pPr>
              <a:defRPr b="1" sz="1600">
                <a:solidFill>
                  <a:srgbClr val="1E1E1E"/>
                </a:solidFill>
              </a:defRPr>
            </a:pPr>
            <a:r>
              <a:t>• Strategic Logic</a:t>
            </a:r>
          </a:p>
          <a:p>
            <a:pPr>
              <a:defRPr sz="1200">
                <a:solidFill>
                  <a:srgbClr val="50505A"/>
                </a:solidFill>
              </a:defRPr>
            </a:pPr>
            <a:r>
              <a:t>  - '7일간 피어나는 향수'라는 제품 핵심 가치를 '일상 속 럭셔리 트립'으로 재해석하여 캠페인 돌파구 마련 전략.</a:t>
            </a:r>
          </a:p>
          <a:p>
            <a:pPr>
              <a:defRPr sz="1200">
                <a:solidFill>
                  <a:srgbClr val="50505A"/>
                </a:solidFill>
              </a:defRPr>
            </a:pPr>
            <a:r>
              <a:t>  - 향수와의 혼동 방지를 위한 '섬유유연제' 본질 강조 및 패브릭과의 유기적 연결성 시각화 전략.</a:t>
            </a:r>
          </a:p>
          <a:p>
            <a:pPr>
              <a:defRPr sz="1200">
                <a:solidFill>
                  <a:srgbClr val="50505A"/>
                </a:solidFill>
              </a:defRPr>
            </a:pPr>
            <a:r>
              <a:t>  - '유니크한 트랜지션' 연출을 통한 일상과 환상적인 향기 세계 간의 몰입감 높은 연결 고리 구축 전략.</a:t>
            </a:r>
          </a:p>
          <a:p>
            <a:pPr>
              <a:defRPr sz="1200">
                <a:solidFill>
                  <a:srgbClr val="50505A"/>
                </a:solidFill>
              </a:defRPr>
            </a:pPr>
            <a:r>
              <a:t>  - 단기적으로는 '5성급 호텔 스파 향기' 인지도를 극대화하고, 장기적으로는 프리미엄 섬유유연제 시장 내 독보적 브랜드 아이덴티티 확립 전략.</a:t>
            </a:r>
          </a:p>
          <a:p>
            <a:pPr>
              <a:defRPr b="1" sz="1600">
                <a:solidFill>
                  <a:srgbClr val="1E1E1E"/>
                </a:solidFill>
              </a:defRPr>
            </a:pPr>
            <a:r>
              <a:t>• Market Intelligence</a:t>
            </a:r>
          </a:p>
          <a:p>
            <a:pPr>
              <a:defRPr sz="1200">
                <a:solidFill>
                  <a:srgbClr val="50505A"/>
                </a:solidFill>
              </a:defRPr>
            </a:pPr>
            <a:r>
              <a:t>  - 미시적 일상 속 거시적 자기 보상 심리, 즉 '스몰 럭셔리'의 본질적 욕구 심층 발굴 및 전략적 연결점 탐색.</a:t>
            </a:r>
          </a:p>
          <a:p>
            <a:pPr>
              <a:defRPr sz="1200">
                <a:solidFill>
                  <a:srgbClr val="50505A"/>
                </a:solidFill>
              </a:defRPr>
            </a:pPr>
            <a:r>
              <a:t>  - 단순한 차별화 넘어, '오감 만족 럭셔리 경험'을 통한 프리미엄 섬유유연제 카테고리 재정의 및 독점적 시장 위상 선점.</a:t>
            </a:r>
          </a:p>
          <a:p>
            <a:pPr>
              <a:defRPr sz="1200">
                <a:solidFill>
                  <a:srgbClr val="50505A"/>
                </a:solidFill>
              </a:defRPr>
            </a:pPr>
            <a:r>
              <a:t>  - '지루한 다우니'라는 기존 인식의 한계를 초월, 새로운 '프리미엄 아트 퍼퓸' 세계관으로의 브랜드 패러다임 전환.</a:t>
            </a:r>
          </a:p>
          <a:p>
            <a:pPr>
              <a:defRPr sz="1200">
                <a:solidFill>
                  <a:srgbClr val="50505A"/>
                </a:solidFill>
              </a:defRPr>
            </a:pPr>
            <a:r>
              <a:t>  - 장원영의 '우아하고 세련된' 셀럽 페르소나를 활용한 브랜드 가치 극대화 및 타겟 소비자의 강력한 동일시 경험 구축.</a:t>
            </a:r>
          </a:p>
          <a:p>
            <a:pPr>
              <a:defRPr b="1" sz="1600">
                <a:solidFill>
                  <a:srgbClr val="1E1E1E"/>
                </a:solidFill>
              </a:defRPr>
            </a:pPr>
            <a:r>
              <a:t>• Strategic Logic</a:t>
            </a:r>
          </a:p>
          <a:p>
            <a:pPr>
              <a:defRPr sz="1200">
                <a:solidFill>
                  <a:srgbClr val="50505A"/>
                </a:solidFill>
              </a:defRPr>
            </a:pPr>
            <a:r>
              <a:t>  - '7일간 피어나는 향수'의 핵심 가치를 '일상의 초월적 럭셔리 여정'으로 재해석, 캠페인 서사의 압도적 몰입감 설계.</a:t>
            </a:r>
          </a:p>
          <a:p>
            <a:pPr>
              <a:defRPr sz="1200">
                <a:solidFill>
                  <a:srgbClr val="50505A"/>
                </a:solidFill>
              </a:defRPr>
            </a:pPr>
            <a:r>
              <a:t>  - 향수와의 혼동 가능성을 사전 차단하고, '섬유유연제' 본연의 기능적 가치와 감성적 가치의 완벽한 시너지 창출.</a:t>
            </a:r>
          </a:p>
          <a:p>
            <a:pPr>
              <a:defRPr sz="1200">
                <a:solidFill>
                  <a:srgbClr val="50505A"/>
                </a:solidFill>
              </a:defRPr>
            </a:pPr>
            <a:r>
              <a:t>  - '유니크한 트랜지션' 연출을 통한 일상과 환상적 향기 세계 간의 경계 없는 흐름, 소비자의 능동적 참여 유도.</a:t>
            </a:r>
          </a:p>
          <a:p>
            <a:pPr>
              <a:defRPr sz="1200">
                <a:solidFill>
                  <a:srgbClr val="50505A"/>
                </a:solidFill>
              </a:defRPr>
            </a:pPr>
            <a:r>
              <a:t>  - 단기적 '5성급 호텔 스파 향기' 인지도 폭발적 확산 및 장기적 프리미엄 섬유유연제 시장 내 절대적 브랜드 아이덴티티 확립.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