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표지: "이야기를 그리는 연출가 — 바스티앙 비베스"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• 메인 타이틀 및 부제목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• 대표작 커버 이미지 배치 (염소의 맛 / 폴리나 / 라스트맨)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• 분석 목적 한 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Unit 1: 작가 소개 · 드로잉 스타일 · 선 표현 (슬라이드 3~10)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Unit 2: 감정 표현 · 스토리텔링 · 컬러 시스템 (슬라이드 11~20)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Unit 3: 테크닉 접근법 · 독학 가이드 · 정리 (슬라이드 21~30)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작가 프로필: 바스티앙 비베스 (1984~)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파리 출신, 그래픽 아트·애니메이션 전공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2008년 데뷔작 《염소의 맛》 → 앙굴렘 신인상 수상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"국제 만화계의 젊은 시인"이라는 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주요 작품 연보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8100" cy="5303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2344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2008: 《염소의 맛 (Le Goût du chlore)》— 앙굴렘 신인상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24917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460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2011: 《폴리나 (Polina)》— 올해의 그래픽노블 선정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7490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2013~: 《라스트맨 (Lastman)》 공동 연재 시작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50063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9606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이후: 《내 눈 안의 너》, 《제국을 위하여》 등 다수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</a:rPr>
              <a:t>핵심 철학: "서사를 위한 도구로서의 그림"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</a:rPr>
              <a:t>"자기 규정: 일러스트레이터가 아닌 연출가(metteur en scène)"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"감정이 전달되는 순간 과도한 디테일은 불필요하다"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그림은 목적이 아니라 이야기 전달의 수단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선의 특징 1 — 느슨하고 흐르는 선 (trait lâché)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Hugo Pratt, Milton Caniff의 전통 계승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붓 터치 + 회색 덩어리(masses de gris) 조합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윤곽선보다 움직임의 흐름을 포착하는 데 집중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선의 특징 2 — 표현 목적이 선 종류를 결정한다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원칙: 같은 작가도 장면의 목적에 따라 선 종류를 달리한다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《폴리나》 발레 장면: 굵은 브러시 툴 → 유연한 움직임 표현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《제국을 위하여》 갑옷 장면: 볼펜형 딱딱한 선 → 형태의 단단함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*(실습 적용은 Unit 3 Step 4에서 다시 다룸)*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100% 디지털 작업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도구: Photoshop + 그래픽 태블릿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인물 위치·크기를 자유롭게 이동·확대·축소 → 최적 미장센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원본 원고(아날로그 원화) 존재하지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작화 워크플로우 4단계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8100" cy="5303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2344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1 스토리보드: 인물 위치·태도만 개략적으로 잡기 (표정·대사 없음)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24917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460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2 구도 조율: 포토샵 레이어·올가미 툴로 미장센 완성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7490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3 선 작업: 스케치 레이어 불투명도 낮추고 최종 선 작업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50063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9606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4 검토: 처음부터 통독 후 리듬·가독성 점검 → 세부 묘사 진입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</a:rPr>
              <a:t>Unit 1 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</a:rPr>
              <a:t>""비베스의 선은 완성을 향하지 않는다 — 감정을 향한다""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3가지 핵심 키워드: trait lâché / metteur en scène / dessin narratif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Unit 2 예고: 연출가 마인드가 실제 감정 표현·공간 설계·컬러로 구현되는 방식으로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[Unit 2 도입] 연출가의 도구상자 — 감정을 설계하는 세 가지 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Unit 1에서 확인한 철학("연출가로서의 작가")이 실제로 작동하는 방식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이번 Unit의 세 축: 인물 연기 설계 / 공간·프레이밍 / 컬러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"어떻게 그리냐"에서 "무엇을 위해 어떻게 그리냐"로 관점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기법 1 — 1인칭 주관 시점 (Vue subjective)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사례: 《내 눈 안의 너》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남성 주인공을 화면에서 완전히 배제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독자가 상대 여성의 미세한 반응·태도 변화에 집중하도록 유도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기법 2 — 제한된 공간으로 인물 관계 부각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사례: 《염소의 맛》의 수영장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사회적 코드·낮밤 구분 없는 밀실(huis clos)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두 인물 사이의 텐션에만 집중하게 하는 공간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기법 3 — 형태적 특징(Morphologie)으로 성격 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캐릭터별 고유 체형·눈썹·팔 길이 등 부여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영감 출처: 비디오 게임(스트리트 파이터 등)의 캐릭터 디자인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효과: 다른 작가가 그려도 즉시 알아볼 수 있는 실루엣 (《라스트맨》)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</a:rPr>
              <a:t>스토리텔링 핵심 원칙 — 환원과 암시의 미학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</a:rPr>
              <a:t>""모든 것을 그리지 않는다 — 독자의 상상력이 빈 공간을 채운다""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배경 최소화, 캐릭터에 집중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키워드: réduction(환원) / mise en scène(미장센)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공간을 서사 도구로 활용하는 프레이밍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중요 대사 장면: 인물을 프레임 안에서 멀리 배치 → 여운 강조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클라이맥스 장면: 클로즈업으로 압박감 극대화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영화적 앵글 적용: 마츠모토 타이요 《핑퐁》 / 일본 애니메이션 영향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페이지 호흡과 분량 철학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200페이지 이상의 긴 포맷 선호 (전통 프랑스 단편 포맷 탈피)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긴 분량 = 무리한 생략 없이 서사 리듬과 호흡 조율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리딩 플로우 점검이 세부 묘사보다 항상 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컬러 시스템 — 서사 코드로서의 색채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《폴리나》 명암 코드 3단계: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회색(masses de gris): 일상·옷차림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흰색(비워둠): 춤추는 순간·피부 → 움직임·순수함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극단적 흑백 대비: 무대 위 클라이맥스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시간·현실을 구분하는 색채 기법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사례: 《내 눈 안의 너》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현실 장면: 단순한 단색 평면 칠(aplats)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회상(flashback): 사진과 같은 색조(teinte photographique)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시공간을 시각 기호로 명확히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협업 시 색채로 통일감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사례: 《제국을 위하여》(작화 분담 작품)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컬러리스트(Sandra Desmazières 등)가 서로 다른 선 스타일 위에 색채를 덧입혀 통합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원칙: 컬러는 스타일 차이를 상쇄하는 통일 언어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Unit 3 예고: 이 모든 원리를 나 자신의 작업에 어떻게 적용할 것인가 — 독학 가이드로 이동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[Unit 3 도입] 독학 가이드 개요 — 비베스가 직접 밝힌 성장 6단계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8100" cy="5303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2344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Unit 1·2에서 분석한 비베스의 원리를 "어떻게 내 것으로 만드는가"로 전환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952897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907177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1: 스케치북으로 시각적 어휘 축적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671354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625634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2: 선택적 시각 기억 훈련 (생략의 기술)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389811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344091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3: 팬아트·모작으로 캐릭터 디자인 원리 연구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4108268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0625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4: 디지털 워크플로우 구축</a:t>
            </a:r>
          </a:p>
        </p:txBody>
      </p:sp>
      <p:sp>
        <p:nvSpPr>
          <p:cNvPr id="14" name="Oval 13"/>
          <p:cNvSpPr/>
          <p:nvPr/>
        </p:nvSpPr>
        <p:spPr>
          <a:xfrm>
            <a:off x="1234440" y="4826725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781005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5: 서사 우선 마인드셋으로 전환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5545182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49946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Step 6: 커뮤니티 참여로 시야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Step 1 — 시각적 어휘 축적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카페·공원 등 일상 공간에서 사람들의 움직임·형태 관찰 및 스케치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TV 인물(예: 프레디 머큐리) 및 사진 모작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핵심 마인드: 작가는 마음에 드는 시각 요소를 저장하는 '하드 디스크'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</a:rPr>
              <a:t>Step 2 — 선택적 시각 기억 훈련: 생략의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</a:rPr>
              <a:t>""무엇을 생략할지가 비베스 선 표현의 핵심이다""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기억할 때 가장 인상적인 특징 하나만 포착하고 나머지를 버리는 훈련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완벽하게 기억하려는 욕심이 오히려 핵심을 흐린다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Step 3 — 팬아트·모작으로 캐릭터 디자인 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좋아하는 게임·애니 캐릭터를 수백 장 모작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분석 질문: "왜 이 캐릭터는 한눈에 알아볼 수 있는가?"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실루엣·체형·눈썹·의상 디테일 등 아이코닉한 특징을 분해 → 자신의 캐릭터에 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Step 4 — 디지털 워크플로우 구축 및 브러시 선택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도구: 그래픽 태블릿 + Photoshop (Clip Studio Paint 대안 가능)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브러시 전략 (Unit 1 슬라이드 7 이론의 실습 적용):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유연한 움직임·댄스 장면 → 굵고 부드러운 브러시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갑옷·건축물·직선적 형태 → 딱딱한 볼펜형 브러시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5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구도 우선: 인물 그리기 전 프레임 내 위치·크기부터 잡기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</a:rPr>
              <a:t>Step 5 — 서사 우선 마인드셋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</a:rPr>
              <a:t>""독자는 한 컷을 1초도 보지 않는다""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디테일보다 "이 컷이 감정을 전달하는가"에 집중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완벽함에 막혀 속도가 떨어지면 서사 전체 완성도가 낮아진다 → 과감히 다음 컷으로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Step 6 — 커뮤니티 참여로 시야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비베스의 성장 배경: 학생 시절 Catsuka 등의 드로잉 포럼 참여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독학이라도 SNS·커뮤니티에 작업을 공개하고 타인의 작업을 꾸준히 관찰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▸  경고: "혼자 그리면 결국 제자리걸음이다"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</a:rPr>
              <a:t>비베스 스타일 핵심 키워드 총정리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선 표현: trait lâché / masses de gris / Hugo Pratt 계보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연출: metteur en scène / mise en scène / réduction / huis clos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인물: morphologie / Characterization / 생략의 미학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▸  프로세스: dessin narratif / 서사 우선주의 / 디지털 워크플로우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비베스에게 배우는 만화 창작 10가지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1. 그림은 감정 전달의 도구다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2. 선의 종류는 표현 목적이 결정한다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3. 스토리보드 → 구도 → 선 순서로 작업한다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4. 인물을 연기하게 하라 (연출가 마인드)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5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5. 제한된 공간이 긴장감을 만든다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4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6. 모든 것을 그리지 마라 — 암시하라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22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7. 컬러는 서사 코드다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7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8. 리딩 플로우 점검이 항상 우선이다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20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9. 시각적 어휘는 일상 관찰로 축적된다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6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2D2D"/>
                </a:solidFill>
              </a:rPr>
              <a:t>10. 커뮤니티에서 배워라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</a:rPr>
              <a:t>마무리 — "이야기가 먼저, 그림은 그다음"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</a:rPr>
              <a:t>"핵심 메시지: 비베스의 모든 기법은 서사를 위해 존재한다"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참고 자료: YouTube 인터뷰 5편, NotebookLM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• 다음 단계 제안: 실습 — 스케치북 들고 카페로 가자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